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16"/>
    <p:sldId id="267" r:id="rId1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378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ultra_realistic_landscape_scene_batch_1.png"/>
          <p:cNvPicPr>
            <a:picLocks noChangeAspect="1"/>
          </p:cNvPicPr>
          <p:nvPr/>
        </p:nvPicPr>
        <p:blipFill>
          <a:blip r:embed="rId3"/>
          <a:srcRect r="-5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025">
              <a:alpha val="82000"/>
            </a:srgbClr>
          </a:solidFill>
          <a:ln w="12700">
            <a:solidFill>
              <a:srgbClr val="062025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71323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Jessica</a:t>
            </a:r>
            <a:endParaRPr lang="en-US" sz="4300" dirty="0"/>
          </a:p>
        </p:txBody>
      </p:sp>
      <p:sp>
        <p:nvSpPr>
          <p:cNvPr id="5" name="Text 2"/>
          <p:cNvSpPr/>
          <p:nvPr/>
        </p:nvSpPr>
        <p:spPr>
          <a:xfrm>
            <a:off x="704088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7F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agrivoltaic platform system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13232" y="2057400"/>
            <a:ext cx="44348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software-driven product concept for autonomous solar “trains” above agricultural fields.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13232" y="2880360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2E7D32">
              <a:alpha val="98000"/>
            </a:srgbClr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2953512"/>
            <a:ext cx="1316736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PRD → Presentation</a:t>
            </a:r>
            <a:endParaRPr lang="en-US" sz="7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 w="12700">
            <a:solidFill>
              <a:srgbClr val="F4F1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8404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core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 must now serve food production and clean-energy demand.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1051560" cy="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</p:sp>
      <p:pic>
        <p:nvPicPr>
          <p:cNvPr id="7" name="Image 0" descr="/mnt/data/a_wide_cinematic_ultra_realistic_landscape_scene_batch_1.png"/>
          <p:cNvPicPr>
            <a:picLocks noChangeAspect="1"/>
          </p:cNvPicPr>
          <p:nvPr/>
        </p:nvPicPr>
        <p:blipFill>
          <a:blip r:embed="rId3"/>
          <a:srcRect l="57" r="57"/>
          <a:stretch/>
        </p:blipFill>
        <p:spPr>
          <a:xfrm>
            <a:off x="7178040" y="1371600"/>
            <a:ext cx="4251960" cy="2395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600200"/>
            <a:ext cx="173736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801368"/>
            <a:ext cx="137160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50392" y="2212848"/>
            <a:ext cx="140817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Agricultural land is a scarce, high-value asset.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697480" y="1600200"/>
            <a:ext cx="192024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80360" y="1801368"/>
            <a:ext cx="155448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6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2862072" y="2212848"/>
            <a:ext cx="159105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Solar-energy deployment often competes with crops for the same land.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892040" y="1600200"/>
            <a:ext cx="192024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1801368"/>
            <a:ext cx="155448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8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5056632" y="2212848"/>
            <a:ext cx="159105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need new revenue without sacrificing crop productivity.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77240" y="3703320"/>
            <a:ext cx="2148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opportunity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04672" y="4096512"/>
            <a:ext cx="51206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the same land twice: crops below, energy generation above.
• Control sunlight exposure dynamically instead of installing static shade.
• Add monitoring, control, and security capabilities to the field.
</a:t>
            </a:r>
            <a:endParaRPr lang="en-US" sz="1330" dirty="0"/>
          </a:p>
        </p:txBody>
      </p:sp>
      <p:sp>
        <p:nvSpPr>
          <p:cNvPr id="19" name="Text 16"/>
          <p:cNvSpPr/>
          <p:nvPr/>
        </p:nvSpPr>
        <p:spPr>
          <a:xfrm>
            <a:off x="530352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290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Jessica PRD • Product presentation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 w="12700">
            <a:solidFill>
              <a:srgbClr val="F4F1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8404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Jessica’s proposed solution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solar platforms that move above crop rows.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1051560" cy="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</p:sp>
      <p:pic>
        <p:nvPicPr>
          <p:cNvPr id="7" name="Image 0" descr="/mnt/data/a_wide_cinematic_ultra_realistic_landscape_scene_batch_1.png"/>
          <p:cNvPicPr>
            <a:picLocks noChangeAspect="1"/>
          </p:cNvPicPr>
          <p:nvPr/>
        </p:nvPicPr>
        <p:blipFill>
          <a:blip r:embed="rId3"/>
          <a:srcRect l="20" r="20"/>
          <a:stretch/>
        </p:blipFill>
        <p:spPr>
          <a:xfrm>
            <a:off x="667512" y="1417320"/>
            <a:ext cx="5440680" cy="3063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37960" y="1353312"/>
            <a:ext cx="48006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BE7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39712" y="1664208"/>
            <a:ext cx="411480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agrivoltaics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858000" y="2148840"/>
            <a:ext cx="39776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Solar “trains” move linearly between field support poles.
• Local autonomy handles movement, direction reversal, and safety behavior.
• Energy meters and cameras feed a responsive web dashboard.
• Farmers can monitor, control, and secure the field in real time.
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903720" y="4114800"/>
            <a:ext cx="3886200" cy="0"/>
          </a:xfrm>
          <a:prstGeom prst="line">
            <a:avLst/>
          </a:prstGeom>
          <a:noFill/>
          <a:ln w="12700">
            <a:solidFill>
              <a:srgbClr val="E2EC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4407408"/>
            <a:ext cx="404164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principle: the physical system stays modular; the software scales from one platform to many trains.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530352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290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Jessica PRD • Product presentation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 w="12700">
            <a:solidFill>
              <a:srgbClr val="F4F1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8404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users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user groups create the business case.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1051560" cy="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60020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6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901952"/>
            <a:ext cx="731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🌾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938528" y="1938528"/>
            <a:ext cx="1124712" cy="310896"/>
          </a:xfrm>
          <a:prstGeom prst="roundRect">
            <a:avLst>
              <a:gd name="adj" fmla="val 20588"/>
            </a:avLst>
          </a:prstGeom>
          <a:solidFill>
            <a:srgbClr val="2E7D32">
              <a:alpha val="98000"/>
            </a:srgbClr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011680"/>
            <a:ext cx="97840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user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1005840" y="2724912"/>
            <a:ext cx="221284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&amp; growers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3337560"/>
            <a:ext cx="21488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Maximize income from existing fields while improving monitoring and security.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4279392" y="160020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6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1901952"/>
            <a:ext cx="731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🏗️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468112" y="1938528"/>
            <a:ext cx="1124712" cy="310896"/>
          </a:xfrm>
          <a:prstGeom prst="roundRect">
            <a:avLst>
              <a:gd name="adj" fmla="val 20588"/>
            </a:avLst>
          </a:prstGeom>
          <a:solidFill>
            <a:srgbClr val="F6A623">
              <a:alpha val="98000"/>
            </a:srgbClr>
          </a:solidFill>
          <a:ln w="12700">
            <a:solidFill>
              <a:srgbClr val="F6A62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41264" y="2011680"/>
            <a:ext cx="97840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Opportunity user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4535424" y="2724912"/>
            <a:ext cx="221284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Landowners &amp; developers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35424" y="3337560"/>
            <a:ext cx="21488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temporary revenue on unused land without permanent structures.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7808976" y="160020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6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1901952"/>
            <a:ext cx="731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⚡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8997696" y="1938528"/>
            <a:ext cx="1124712" cy="310896"/>
          </a:xfrm>
          <a:prstGeom prst="roundRect">
            <a:avLst>
              <a:gd name="adj" fmla="val 20588"/>
            </a:avLst>
          </a:prstGeom>
          <a:solidFill>
            <a:srgbClr val="1E88E5">
              <a:alpha val="98000"/>
            </a:srgbClr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0848" y="2011680"/>
            <a:ext cx="97840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stakeholder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8065008" y="2724912"/>
            <a:ext cx="221284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 &amp; infrastructure bodies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65008" y="3337560"/>
            <a:ext cx="21488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distributed clean energy while preserving food security.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530352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290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Jessica PRD • Product presentation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 w="12700">
            <a:solidFill>
              <a:srgbClr val="F4F1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8404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and “train” system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 platforms can operate alone or as synchronized linked trains.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1051560" cy="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490472"/>
            <a:ext cx="2194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modules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121408"/>
            <a:ext cx="9144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2212848"/>
            <a:ext cx="768096" cy="91440"/>
          </a:xfrm>
          <a:prstGeom prst="rect">
            <a:avLst/>
          </a:prstGeom>
          <a:solidFill>
            <a:srgbClr val="D7F5D3"/>
          </a:solidFill>
          <a:ln w="12700">
            <a:solidFill>
              <a:srgbClr val="D7F5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2560320"/>
            <a:ext cx="164592" cy="164592"/>
          </a:xfrm>
          <a:prstGeom prst="ellipse">
            <a:avLst/>
          </a:prstGeom>
          <a:solidFill>
            <a:srgbClr val="0B1F24"/>
          </a:solidFill>
          <a:ln w="12700">
            <a:solidFill>
              <a:srgbClr val="0B1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27048" y="2560320"/>
            <a:ext cx="164592" cy="164592"/>
          </a:xfrm>
          <a:prstGeom prst="ellipse">
            <a:avLst/>
          </a:prstGeom>
          <a:solidFill>
            <a:srgbClr val="0B1F24"/>
          </a:solidFill>
          <a:ln w="12700">
            <a:solidFill>
              <a:srgbClr val="0B1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10512" y="2350008"/>
            <a:ext cx="347472" cy="0"/>
          </a:xfrm>
          <a:prstGeom prst="line">
            <a:avLst/>
          </a:prstGeom>
          <a:noFill/>
          <a:ln w="25400">
            <a:solidFill>
              <a:srgbClr val="5D6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2121408"/>
            <a:ext cx="9144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67712" y="2212848"/>
            <a:ext cx="768096" cy="91440"/>
          </a:xfrm>
          <a:prstGeom prst="rect">
            <a:avLst/>
          </a:prstGeom>
          <a:solidFill>
            <a:srgbClr val="D7F5D3"/>
          </a:solidFill>
          <a:ln w="12700">
            <a:solidFill>
              <a:srgbClr val="D7F5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95144" y="2560320"/>
            <a:ext cx="164592" cy="164592"/>
          </a:xfrm>
          <a:prstGeom prst="ellipse">
            <a:avLst/>
          </a:prstGeom>
          <a:solidFill>
            <a:srgbClr val="0B1F24"/>
          </a:solidFill>
          <a:ln w="12700">
            <a:solidFill>
              <a:srgbClr val="0B1F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52928" y="2560320"/>
            <a:ext cx="164592" cy="164592"/>
          </a:xfrm>
          <a:prstGeom prst="ellipse">
            <a:avLst/>
          </a:prstGeom>
          <a:solidFill>
            <a:srgbClr val="0B1F24"/>
          </a:solidFill>
          <a:ln w="12700">
            <a:solidFill>
              <a:srgbClr val="0B1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36392" y="2350008"/>
            <a:ext cx="347472" cy="0"/>
          </a:xfrm>
          <a:prstGeom prst="line">
            <a:avLst/>
          </a:prstGeom>
          <a:noFill/>
          <a:ln w="25400">
            <a:solidFill>
              <a:srgbClr val="5D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2121408"/>
            <a:ext cx="9144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93592" y="2212848"/>
            <a:ext cx="768096" cy="91440"/>
          </a:xfrm>
          <a:prstGeom prst="rect">
            <a:avLst/>
          </a:prstGeom>
          <a:solidFill>
            <a:srgbClr val="D7F5D3"/>
          </a:solidFill>
          <a:ln w="12700">
            <a:solidFill>
              <a:srgbClr val="D7F5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21024" y="2560320"/>
            <a:ext cx="164592" cy="164592"/>
          </a:xfrm>
          <a:prstGeom prst="ellipse">
            <a:avLst/>
          </a:prstGeom>
          <a:solidFill>
            <a:srgbClr val="0B1F24"/>
          </a:solidFill>
          <a:ln w="12700">
            <a:solidFill>
              <a:srgbClr val="0B1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78808" y="2560320"/>
            <a:ext cx="164592" cy="164592"/>
          </a:xfrm>
          <a:prstGeom prst="ellipse">
            <a:avLst/>
          </a:prstGeom>
          <a:solidFill>
            <a:srgbClr val="0B1F24"/>
          </a:solidFill>
          <a:ln w="12700">
            <a:solidFill>
              <a:srgbClr val="0B1F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62272" y="2350008"/>
            <a:ext cx="347472" cy="0"/>
          </a:xfrm>
          <a:prstGeom prst="line">
            <a:avLst/>
          </a:prstGeom>
          <a:noFill/>
          <a:ln w="25400">
            <a:solidFill>
              <a:srgbClr val="5D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121408"/>
            <a:ext cx="9144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2212848"/>
            <a:ext cx="768096" cy="91440"/>
          </a:xfrm>
          <a:prstGeom prst="rect">
            <a:avLst/>
          </a:prstGeom>
          <a:solidFill>
            <a:srgbClr val="D7F5D3"/>
          </a:solidFill>
          <a:ln w="12700">
            <a:solidFill>
              <a:srgbClr val="D7F5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46904" y="2560320"/>
            <a:ext cx="164592" cy="164592"/>
          </a:xfrm>
          <a:prstGeom prst="ellipse">
            <a:avLst/>
          </a:prstGeom>
          <a:solidFill>
            <a:srgbClr val="0B1F24"/>
          </a:solidFill>
          <a:ln w="12700">
            <a:solidFill>
              <a:srgbClr val="0B1F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04688" y="2560320"/>
            <a:ext cx="164592" cy="164592"/>
          </a:xfrm>
          <a:prstGeom prst="ellipse">
            <a:avLst/>
          </a:prstGeom>
          <a:solidFill>
            <a:srgbClr val="0B1F24"/>
          </a:solidFill>
          <a:ln w="12700">
            <a:solidFill>
              <a:srgbClr val="0B1F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3246120"/>
            <a:ext cx="4892040" cy="0"/>
          </a:xfrm>
          <a:prstGeom prst="line">
            <a:avLst/>
          </a:prstGeom>
          <a:noFill/>
          <a:ln w="25400">
            <a:solidFill>
              <a:srgbClr val="1E88E5"/>
            </a:solidFill>
            <a:prstDash val="solid"/>
            <a:headEnd type="triangl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078992" y="3401568"/>
            <a:ext cx="4206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8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movement: forward / backward along virtual paths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1572768"/>
            <a:ext cx="457200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1975104"/>
            <a:ext cx="37490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Unlimited number of solar platforms in the architecture.
• Physical linking enables a longer synchronized train.
• Automatic or manual configuration of train composition.
• Controlled speed, acceleration, and deceleration to avoid damage.
</a:t>
            </a:r>
            <a:endParaRPr lang="en-US" sz="1310" dirty="0"/>
          </a:p>
        </p:txBody>
      </p:sp>
      <p:sp>
        <p:nvSpPr>
          <p:cNvPr id="31" name="Text 29"/>
          <p:cNvSpPr/>
          <p:nvPr/>
        </p:nvSpPr>
        <p:spPr>
          <a:xfrm>
            <a:off x="530352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290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Jessica PRD • Product presentation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 w="12700">
            <a:solidFill>
              <a:srgbClr val="F4F1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8404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Sensors, autonomy, and control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intelligence keeps the system operational and safe.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1051560" cy="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64929" y="2971800"/>
            <a:ext cx="100584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625246" y="2971800"/>
            <a:ext cx="100584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84769" y="214884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6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0257" y="2331720"/>
            <a:ext cx="6400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📷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949361" y="2843784"/>
            <a:ext cx="126187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49361" y="3136392"/>
            <a:ext cx="126187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180° visual feed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FPS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345086" y="214884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6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20574" y="2331720"/>
            <a:ext cx="6400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🤖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509678" y="2843784"/>
            <a:ext cx="126187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controller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509678" y="3136392"/>
            <a:ext cx="126187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Move, reverse,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safety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813966" y="214884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6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9454" y="2331720"/>
            <a:ext cx="6400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🖥️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978558" y="2843784"/>
            <a:ext cx="126187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78558" y="3136392"/>
            <a:ext cx="126187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monitoring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manual control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1143000" y="4791456"/>
            <a:ext cx="242316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5880" y="4992624"/>
            <a:ext cx="205740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8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2 sec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307592" y="5404104"/>
            <a:ext cx="20939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Manual-command response target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92040" y="4791456"/>
            <a:ext cx="265176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4992624"/>
            <a:ext cx="228600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1 sec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5056632" y="5404104"/>
            <a:ext cx="23225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latency target in good network conditions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641080" y="4791456"/>
            <a:ext cx="246888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23960" y="4992624"/>
            <a:ext cx="21031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6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805672" y="5404104"/>
            <a:ext cx="21396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autonomous safety independent of cloud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30352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290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Jessica PRD • Product presentation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 w="12700">
            <a:solidFill>
              <a:srgbClr val="F4F1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8404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Metrics dashboard &amp; reporting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telemetry, historical charts, and one-click data export.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1051560" cy="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290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Jessica PRD • Product presentation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201" name="l201"/>
          <p:cNvSpPr/>
          <p:nvPr/>
        </p:nvSpPr>
        <p:spPr>
          <a:xfrm>
            <a:off x="548640" y="1200000"/>
            <a:ext cx="1051560" cy="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</p:sp>
      <p:sp>
        <p:nvSpPr>
          <p:cNvPr id="202" name="t202"/>
          <p:cNvSpPr/>
          <p:nvPr/>
        </p:nvSpPr>
        <p:spPr>
          <a:xfrm>
            <a:off x="548640" y="1240000"/>
            <a:ext cx="54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24"/>
                </a:solidFill>
                <a:latin typeface="Aptos Display" pitchFamily="34" charset="0"/>
              </a:rPr>
              <a:t>Dashboard features</a:t>
            </a:r>
          </a:p>
        </p:txBody>
      </p:sp>
      <p:sp>
        <p:nvSpPr>
          <p:cNvPr id="203" name="t203"/>
          <p:cNvSpPr/>
          <p:nvPr/>
        </p:nvSpPr>
        <p:spPr>
          <a:xfrm>
            <a:off x="548640" y="1560000"/>
            <a:ext cx="5200000" cy="1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Time range selector: 15 min / 1 hr / 6 hr / 24 hr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Auto-refresh every 3 seconds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Live stats: avg solar voltage, distance range, safety incidents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Mode breakdown: Idle / Manual / Autonomous / Charging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Interactive SVG line chart with hover tooltips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Clear metrics database with confirmation dialog</a:t>
            </a:r>
          </a:p>
        </p:txBody>
      </p:sp>
      <p:sp>
        <p:nvSpPr>
          <p:cNvPr id="204" name="l204"/>
          <p:cNvSpPr/>
          <p:nvPr/>
        </p:nvSpPr>
        <p:spPr>
          <a:xfrm>
            <a:off x="6350000" y="1200000"/>
            <a:ext cx="1051560" cy="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</p:sp>
      <p:sp>
        <p:nvSpPr>
          <p:cNvPr id="205" name="t205"/>
          <p:cNvSpPr/>
          <p:nvPr/>
        </p:nvSpPr>
        <p:spPr>
          <a:xfrm>
            <a:off x="6350000" y="1240000"/>
            <a:ext cx="54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24"/>
                </a:solidFill>
                <a:latin typeface="Aptos Display" pitchFamily="34" charset="0"/>
              </a:rPr>
              <a:t>Data export</a:t>
            </a:r>
          </a:p>
        </p:txBody>
      </p:sp>
      <p:sp>
        <p:nvSpPr>
          <p:cNvPr id="206" name="t206"/>
          <p:cNvSpPr/>
          <p:nvPr/>
        </p:nvSpPr>
        <p:spPr>
          <a:xfrm>
            <a:off x="6350000" y="1560000"/>
            <a:ext cx="53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E7D32"/>
                </a:solidFill>
                <a:latin typeface="Aptos" pitchFamily="34" charset="0"/>
              </a:rPr>
              <a:t>CSV  —  raw sensor data per reading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Timestamp, solar voltage, distance, safety state, mode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Excel-compatible BOM encoding for Excel compatibility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Filename: jessica-metrics-{range}-{date}.csv</a:t>
            </a:r>
          </a:p>
        </p:txBody>
      </p:sp>
      <p:sp>
        <p:nvSpPr>
          <p:cNvPr id="207" name="t207"/>
          <p:cNvSpPr/>
          <p:nvPr/>
        </p:nvSpPr>
        <p:spPr>
          <a:xfrm>
            <a:off x="6350000" y="2560000"/>
            <a:ext cx="53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0392B"/>
                </a:solidFill>
                <a:latin typeface="Aptos" pitchFamily="34" charset="0"/>
              </a:rPr>
              <a:t>PDF  —  branded management report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Summary statistics: voltage, distance, safety incidents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Operating mode distribution breakdown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Full telemetry table with colour-coded safety levels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Filename: jessica-report-{date}.pdf</a:t>
            </a:r>
          </a:p>
        </p:txBody>
      </p:sp>
      <p:sp>
        <p:nvSpPr>
          <p:cNvPr id="208" name="r208"/>
          <p:cNvSpPr/>
          <p:nvPr/>
        </p:nvSpPr>
        <p:spPr>
          <a:xfrm>
            <a:off x="548640" y="5150000"/>
            <a:ext cx="246888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209" name="n209"/>
          <p:cNvSpPr/>
          <p:nvPr/>
        </p:nvSpPr>
        <p:spPr>
          <a:xfrm>
            <a:off x="731520" y="5350000"/>
            <a:ext cx="2103120" cy="32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7D32"/>
                </a:solidFill>
                <a:latin typeface="Aptos" pitchFamily="34" charset="0"/>
              </a:rPr>
              <a:t>3 s</a:t>
            </a:r>
          </a:p>
        </p:txBody>
      </p:sp>
      <p:sp>
        <p:nvSpPr>
          <p:cNvPr id="210" name="lb210"/>
          <p:cNvSpPr/>
          <p:nvPr/>
        </p:nvSpPr>
        <p:spPr>
          <a:xfrm>
            <a:off x="628640" y="5710000"/>
            <a:ext cx="2310000" cy="18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233236"/>
                </a:solidFill>
                <a:latin typeface="Aptos" pitchFamily="34" charset="0"/>
              </a:rPr>
              <a:t>auto-refresh interval</a:t>
            </a:r>
          </a:p>
        </p:txBody>
      </p:sp>
      <p:sp>
        <p:nvSpPr>
          <p:cNvPr id="211" name="r211"/>
          <p:cNvSpPr/>
          <p:nvPr/>
        </p:nvSpPr>
        <p:spPr>
          <a:xfrm>
            <a:off x="3280000" y="5150000"/>
            <a:ext cx="246888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212" name="n212"/>
          <p:cNvSpPr/>
          <p:nvPr/>
        </p:nvSpPr>
        <p:spPr>
          <a:xfrm>
            <a:off x="3462880" y="5350000"/>
            <a:ext cx="2103120" cy="32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65A5"/>
                </a:solidFill>
                <a:latin typeface="Aptos" pitchFamily="34" charset="0"/>
              </a:rPr>
              <a:t>4</a:t>
            </a:r>
          </a:p>
        </p:txBody>
      </p:sp>
      <p:sp>
        <p:nvSpPr>
          <p:cNvPr id="213" name="lb213"/>
          <p:cNvSpPr/>
          <p:nvPr/>
        </p:nvSpPr>
        <p:spPr>
          <a:xfrm>
            <a:off x="3360000" y="5710000"/>
            <a:ext cx="2310000" cy="18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233236"/>
                </a:solidFill>
                <a:latin typeface="Aptos" pitchFamily="34" charset="0"/>
              </a:rPr>
              <a:t>time range options</a:t>
            </a:r>
          </a:p>
        </p:txBody>
      </p:sp>
      <p:sp>
        <p:nvSpPr>
          <p:cNvPr id="214" name="r214"/>
          <p:cNvSpPr/>
          <p:nvPr/>
        </p:nvSpPr>
        <p:spPr>
          <a:xfrm>
            <a:off x="6020000" y="5150000"/>
            <a:ext cx="246888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215" name="n215"/>
          <p:cNvSpPr/>
          <p:nvPr/>
        </p:nvSpPr>
        <p:spPr>
          <a:xfrm>
            <a:off x="6202880" y="5350000"/>
            <a:ext cx="2103120" cy="32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6A623"/>
                </a:solidFill>
                <a:latin typeface="Aptos" pitchFamily="34" charset="0"/>
              </a:rPr>
              <a:t>CSV</a:t>
            </a:r>
          </a:p>
        </p:txBody>
      </p:sp>
      <p:sp>
        <p:nvSpPr>
          <p:cNvPr id="216" name="lb216"/>
          <p:cNvSpPr/>
          <p:nvPr/>
        </p:nvSpPr>
        <p:spPr>
          <a:xfrm>
            <a:off x="6100000" y="5710000"/>
            <a:ext cx="2310000" cy="18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233236"/>
                </a:solidFill>
                <a:latin typeface="Aptos" pitchFamily="34" charset="0"/>
              </a:rPr>
              <a:t>raw sensor export</a:t>
            </a:r>
          </a:p>
        </p:txBody>
      </p:sp>
      <p:sp>
        <p:nvSpPr>
          <p:cNvPr id="217" name="r217"/>
          <p:cNvSpPr/>
          <p:nvPr/>
        </p:nvSpPr>
        <p:spPr>
          <a:xfrm>
            <a:off x="8760000" y="5150000"/>
            <a:ext cx="246888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218" name="n218"/>
          <p:cNvSpPr/>
          <p:nvPr/>
        </p:nvSpPr>
        <p:spPr>
          <a:xfrm>
            <a:off x="8942880" y="5350000"/>
            <a:ext cx="2103120" cy="32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0392B"/>
                </a:solidFill>
                <a:latin typeface="Aptos" pitchFamily="34" charset="0"/>
              </a:rPr>
              <a:t>PDF</a:t>
            </a:r>
          </a:p>
        </p:txBody>
      </p:sp>
      <p:sp>
        <p:nvSpPr>
          <p:cNvPr id="219" name="lb219"/>
          <p:cNvSpPr/>
          <p:nvPr/>
        </p:nvSpPr>
        <p:spPr>
          <a:xfrm>
            <a:off x="8840000" y="5710000"/>
            <a:ext cx="2310000" cy="18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233236"/>
                </a:solidFill>
                <a:latin typeface="Aptos" pitchFamily="34" charset="0"/>
              </a:rPr>
              <a:t>branded report export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 w="12700">
            <a:solidFill>
              <a:srgbClr val="F4F1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8404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recorder &amp; replay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driving sessions and replay them with camera feed and telemetry in sync.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1051560" cy="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290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Jessica PRD • Product presentation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220" name="l220"/>
          <p:cNvSpPr/>
          <p:nvPr/>
        </p:nvSpPr>
        <p:spPr>
          <a:xfrm>
            <a:off x="548640" y="1200000"/>
            <a:ext cx="1051560" cy="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</p:sp>
      <p:sp>
        <p:nvSpPr>
          <p:cNvPr id="221" name="t221"/>
          <p:cNvSpPr/>
          <p:nvPr/>
        </p:nvSpPr>
        <p:spPr>
          <a:xfrm>
            <a:off x="548640" y="1240000"/>
            <a:ext cx="54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24"/>
                </a:solidFill>
                <a:latin typeface="Aptos Display" pitchFamily="34" charset="0"/>
              </a:rPr>
              <a:t>Record</a:t>
            </a:r>
          </a:p>
        </p:txBody>
      </p:sp>
      <p:sp>
        <p:nvSpPr>
          <p:cNvPr id="222" name="t222"/>
          <p:cNvSpPr/>
          <p:nvPr/>
        </p:nvSpPr>
        <p:spPr>
          <a:xfrm>
            <a:off x="548640" y="1560000"/>
            <a:ext cx="52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Name the session before starting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Set speed (1-255) for the entire session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Live camera feed + real-time sensor panel during recording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Every movement command timestamped to the millisecond</a:t>
            </a:r>
          </a:p>
        </p:txBody>
      </p:sp>
      <p:sp>
        <p:nvSpPr>
          <p:cNvPr id="223" name="t223"/>
          <p:cNvSpPr/>
          <p:nvPr/>
        </p:nvSpPr>
        <p:spPr>
          <a:xfrm>
            <a:off x="548640" y="2720000"/>
            <a:ext cx="54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24"/>
                </a:solidFill>
                <a:latin typeface="Aptos Display" pitchFamily="34" charset="0"/>
              </a:rPr>
              <a:t>Replay</a:t>
            </a:r>
          </a:p>
        </p:txBody>
      </p:sp>
      <p:sp>
        <p:nvSpPr>
          <p:cNvPr id="224" name="t224"/>
          <p:cNvSpPr/>
          <p:nvPr/>
        </p:nvSpPr>
        <p:spPr>
          <a:xfrm>
            <a:off x="548640" y="3040000"/>
            <a:ext cx="52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Select any stored session from the session list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Full-screen playback: camera + telemetry side-by-side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Commands re-issued to robot at original timing intervals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Read-only mode — no manual override during replay</a:t>
            </a:r>
          </a:p>
        </p:txBody>
      </p:sp>
      <p:sp>
        <p:nvSpPr>
          <p:cNvPr id="225" name="t225"/>
          <p:cNvSpPr/>
          <p:nvPr/>
        </p:nvSpPr>
        <p:spPr>
          <a:xfrm>
            <a:off x="548640" y="4200000"/>
            <a:ext cx="54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24"/>
                </a:solidFill>
                <a:latin typeface="Aptos Display" pitchFamily="34" charset="0"/>
              </a:rPr>
              <a:t>Session management</a:t>
            </a:r>
          </a:p>
        </p:txBody>
      </p:sp>
      <p:sp>
        <p:nvSpPr>
          <p:cNvPr id="226" name="t226"/>
          <p:cNvSpPr/>
          <p:nvPr/>
        </p:nvSpPr>
        <p:spPr>
          <a:xfrm>
            <a:off x="548640" y="4520000"/>
            <a:ext cx="5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Admin and Operator users can create, view, and delete recordings.</a:t>
            </a:r>
          </a:p>
        </p:txBody>
      </p:sp>
      <p:sp>
        <p:nvSpPr>
          <p:cNvPr id="227" name="l227"/>
          <p:cNvSpPr/>
          <p:nvPr/>
        </p:nvSpPr>
        <p:spPr>
          <a:xfrm>
            <a:off x="6350000" y="1200000"/>
            <a:ext cx="1051560" cy="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</p:sp>
      <p:sp>
        <p:nvSpPr>
          <p:cNvPr id="228" name="t228"/>
          <p:cNvSpPr/>
          <p:nvPr/>
        </p:nvSpPr>
        <p:spPr>
          <a:xfrm>
            <a:off x="6350000" y="1240000"/>
            <a:ext cx="54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24"/>
                </a:solidFill>
                <a:latin typeface="Aptos Display" pitchFamily="34" charset="0"/>
              </a:rPr>
              <a:t>Data captured per session</a:t>
            </a:r>
          </a:p>
        </p:txBody>
      </p:sp>
      <p:sp>
        <p:nvSpPr>
          <p:cNvPr id="229" name="t229"/>
          <p:cNvSpPr/>
          <p:nvPr/>
        </p:nvSpPr>
        <p:spPr>
          <a:xfrm>
            <a:off x="6350000" y="1560000"/>
            <a:ext cx="530000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E7D32"/>
                </a:solidFill>
                <a:latin typeface="Aptos" pitchFamily="34" charset="0"/>
              </a:rPr>
              <a:t>Session metadata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Session name, creation date, total duration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Speed setting (applied throughout session)</a:t>
            </a:r>
          </a:p>
          <a:p>
            <a:endParaRPr lang="en-US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2E7D32"/>
                </a:solidFill>
                <a:latin typeface="Aptos" pitchFamily="34" charset="0"/>
              </a:rPr>
              <a:t>Per-event data  (ms precision)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Timestamp (ms), movement direction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Left motor value, right motor value</a:t>
            </a:r>
          </a:p>
          <a:p>
            <a:endParaRPr lang="en-US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2E7D32"/>
                </a:solidFill>
                <a:latin typeface="Aptos" pitchFamily="34" charset="0"/>
              </a:rPr>
              <a:t>Live camera stream</a:t>
            </a:r>
          </a:p>
          <a:p>
            <a:pPr marL="0" indent="0" algn="l">
              <a:buNone/>
            </a:pPr>
            <a:r>
              <a:rPr lang="en-US" sz="875" b="0" dirty="0">
                <a:solidFill>
                  <a:srgbClr val="3B4D4D"/>
                </a:solidFill>
                <a:latin typeface="Aptos" pitchFamily="34" charset="0"/>
              </a:rPr>
              <a:t>• Active during both record and replay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 w="12700">
            <a:solidFill>
              <a:srgbClr val="F4F1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8404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and connectivity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access with local fallback for fields with weak or no internet.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1051560" cy="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model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3977640" cy="52120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7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984248"/>
            <a:ext cx="960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2157984" y="1984248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access, user management, settings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868680" y="2651760"/>
            <a:ext cx="3977640" cy="52120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7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761488"/>
            <a:ext cx="960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E8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2157984" y="2761488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+ reports + live feed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68680" y="3429000"/>
            <a:ext cx="3977640" cy="52120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E7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538728"/>
            <a:ext cx="960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2157984" y="3538728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reports + live feed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0" y="1463040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Connectivity model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9088" y="1874520"/>
            <a:ext cx="443484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Primary WAN: </a:t>
            </a:r>
            <a:r>
              <a:rPr lang="en-US" sz="1200" dirty="0" err="1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WiFi</a:t>
            </a:r>
            <a:r>
              <a:rPr lang="en-US" sz="120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• Offline operation: autonomous logic runs locally
• Local storage for sensor data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Secure local WiFi network for LAN access when internet is down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7824" y="5166360"/>
            <a:ext cx="99669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controls: password hashing, environment-based secrets, access logs, and critical action logs.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290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Jessica PRD • Product presentation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 w="12700">
            <a:solidFill>
              <a:srgbClr val="F4F1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8404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Non-functional requirements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targets define the quality bar.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03361" y="1143000"/>
            <a:ext cx="1051560" cy="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23401" y="1527048"/>
            <a:ext cx="210312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06281" y="1728216"/>
            <a:ext cx="173736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3 sec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487993" y="2139696"/>
            <a:ext cx="1773936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initial load time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0841" y="1527048"/>
            <a:ext cx="210312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3721" y="1728216"/>
            <a:ext cx="173736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8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sec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865433" y="2139696"/>
            <a:ext cx="1773936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data refresh interval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078281" y="1527048"/>
            <a:ext cx="210312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1161" y="1728216"/>
            <a:ext cx="173736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6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99.9%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242873" y="2139696"/>
            <a:ext cx="1773936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uptime target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60120" y="3703320"/>
            <a:ext cx="95097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6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07592" y="3977640"/>
            <a:ext cx="2194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Scalability target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611880" y="3931920"/>
            <a:ext cx="63093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architecture should support hundreds of farmers and thousands of trains simultaneously, with diagnostics for remote support.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290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Jessica PRD • Product presentation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 w="12700">
            <a:solidFill>
              <a:srgbClr val="F4F1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8404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scope and open questions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 to refine before implementation.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1051560" cy="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481328"/>
            <a:ext cx="48006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8E7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609344"/>
            <a:ext cx="1645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model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2724912" y="1618488"/>
            <a:ext cx="26517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360° movement required, or only linear forward/back?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336792" y="1481328"/>
            <a:ext cx="48006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8E7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609344"/>
            <a:ext cx="1645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optimization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8257032" y="1618488"/>
            <a:ext cx="26517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farmers define sunlight windows per field zone?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04672" y="2688336"/>
            <a:ext cx="48006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8E7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816352"/>
            <a:ext cx="1645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 health analysis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2724912" y="2825496"/>
            <a:ext cx="26517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video only, or automated disease/water-stress detection?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336792" y="2688336"/>
            <a:ext cx="48006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8E7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2816352"/>
            <a:ext cx="1645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Integrations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8257032" y="2825496"/>
            <a:ext cx="26517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332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Irrigation systems and weather forecasts for automatic storm mode.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530352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290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Jessica PRD • Product presentation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650</Words>
  <Application>Microsoft Office PowerPoint</Application>
  <PresentationFormat>מסך רחב</PresentationFormat>
  <Paragraphs>116</Paragraphs>
  <Slides>9</Slides>
  <Notes>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Jessica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Jessica Product Requirements Presentation</dc:title>
  <dc:subject>Jessica PRD summary presentation</dc:subject>
  <dc:creator>OpenAI</dc:creator>
  <cp:lastModifiedBy>Amit Leiba</cp:lastModifiedBy>
  <cp:revision>3</cp:revision>
  <dcterms:created xsi:type="dcterms:W3CDTF">2026-06-08T16:55:21Z</dcterms:created>
  <dcterms:modified xsi:type="dcterms:W3CDTF">2026-06-08T19:02:54Z</dcterms:modified>
</cp:coreProperties>
</file>